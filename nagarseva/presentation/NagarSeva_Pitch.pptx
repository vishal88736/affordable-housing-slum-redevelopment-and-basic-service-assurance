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159D9A"/>
                </a:solidFill>
                <a:latin typeface="Aptos"/>
              </a:rPr>
              <a:t>NAGARSEVA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8046720" cy="1417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900" b="1">
                <a:solidFill>
                  <a:srgbClr val="F5FBF8"/>
                </a:solidFill>
                <a:latin typeface="Aptos"/>
              </a:rPr>
              <a:t>Plan safer homes.
Prove services arrive.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46120"/>
            <a:ext cx="649224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0">
                <a:solidFill>
                  <a:srgbClr val="B8D1CD"/>
                </a:solidFill>
                <a:latin typeface="Aptos"/>
              </a:rPr>
              <a:t>AI-powered decision support for affordable housing, slum redevelopment and everyday service assurance across the Mumbai Metropolitan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97BBB5"/>
                </a:solidFill>
                <a:latin typeface="Aptos"/>
              </a:rPr>
              <a:t>A hackathon demo · working title · 2026</a:t>
            </a:r>
          </a:p>
        </p:txBody>
      </p:sp>
      <p:sp>
        <p:nvSpPr>
          <p:cNvPr id="6" name="Oval 5"/>
          <p:cNvSpPr/>
          <p:nvPr/>
        </p:nvSpPr>
        <p:spPr>
          <a:xfrm>
            <a:off x="9601200" y="1920240"/>
            <a:ext cx="146304" cy="146304"/>
          </a:xfrm>
          <a:prstGeom prst="ellipse">
            <a:avLst/>
          </a:prstGeom>
          <a:solidFill>
            <a:srgbClr val="159D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2743200"/>
            <a:ext cx="100584" cy="100584"/>
          </a:xfrm>
          <a:prstGeom prst="ellipse">
            <a:avLst/>
          </a:prstGeom>
          <a:solidFill>
            <a:srgbClr val="E9A7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4023360"/>
            <a:ext cx="128016" cy="128016"/>
          </a:xfrm>
          <a:prstGeom prst="ellipse">
            <a:avLst/>
          </a:prstGeom>
          <a:solidFill>
            <a:srgbClr val="DC5B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4206240"/>
            <a:ext cx="91440" cy="91440"/>
          </a:xfrm>
          <a:prstGeom prst="ellipse">
            <a:avLst/>
          </a:prstGeom>
          <a:solidFill>
            <a:srgbClr val="159D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6080760"/>
            <a:ext cx="40233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0">
                <a:solidFill>
                  <a:srgbClr val="97BBB5"/>
                </a:solidFill>
                <a:latin typeface="Aptos"/>
              </a:rPr>
              <a:t>Every neighbourhood safer, healthier and heard.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002  /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Housing is delivered as a project. Services are experienced as a promise.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383280" cy="347472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9222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Fragmented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176272"/>
            <a:ext cx="3054096" cy="2834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Cities know the need is large, but cannot compare pockets on vulnerability, hazard, density and service deficits in one 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3474720"/>
          </a:xfrm>
          <a:prstGeom prst="rect">
            <a:avLst/>
          </a:prstGeom>
          <a:solidFill>
            <a:srgbClr val="DC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47472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9222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Viability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76272"/>
            <a:ext cx="3054096" cy="2834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Cross-subsidy projects depend on land, FSI, rehab entitlement, construction cost, market rate and TDR moving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347472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383280" cy="347472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79222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Post-handover blind spot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76272"/>
            <a:ext cx="3054096" cy="28346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A new building does not guarantee water, sanitation, power, waste collection, health access or a response to grievances.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64008" cy="347472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91440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000" b="1">
                <a:solidFill>
                  <a:srgbClr val="092A43"/>
                </a:solidFill>
                <a:latin typeface="Aptos"/>
              </a:rPr>
              <a:t>India’s housing and service gap is a systems problem — not only a construction problem.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003  / 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Three failure modes keep repeating.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06908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1790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01  Data silos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3054096" cy="3429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Census, ward assets, complaints, land and project histories live in separate rooms. A decision is made with a partial picture.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406908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06908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1790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02  One-size 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54096" cy="3429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In-situ, upgrading, relocation and rental housing have different risk, tenure and financial logic. The wrong default creates delay.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4008" cy="406908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06908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1790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03  No closed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01952"/>
            <a:ext cx="3054096" cy="3429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Success is counted at handover. Residents experience the next 90 days. Without assurance signals, the gap becomes invisible.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64008" cy="4069080"/>
          </a:xfrm>
          <a:prstGeom prst="rect">
            <a:avLst/>
          </a:prstGeom>
          <a:solidFill>
            <a:srgbClr val="DC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91440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159D9A"/>
                </a:solidFill>
                <a:latin typeface="Aptos"/>
              </a:rPr>
              <a:t>NagarSeva closes the loop from prioritise → plan → simulate → assure.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004  / 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One evidence layer for four public decisions.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279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303520"/>
            <a:ext cx="96012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092A43"/>
                </a:solidFill>
                <a:latin typeface="Aptos"/>
              </a:rPr>
              <a:t>Synthetic data is a safe, reproducible starting point. Approved real sources plug into the same contracts.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005  /  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Seeded, reproducible and honest about what it 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411480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1790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1,500 pockets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01952"/>
            <a:ext cx="3054096" cy="3474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MMR-like coordinates, vulnerability, density, land signals and hazard scores. GeoJSON polygons are illustrative.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411480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11480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1790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20,000 grievances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54096" cy="3474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English, Hindi, Marathi and Hinglish-style text across water, sanitation, power, waste, drainage, health, safety and housing.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4008" cy="411480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383280" cy="411480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1790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Ward-safe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01952"/>
            <a:ext cx="3054096" cy="3474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Train/validation/test logic avoids pocket leakage by splitting on ward. Missingness and outliers are deliberately injected.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64008" cy="4114800"/>
          </a:xfrm>
          <a:prstGeom prst="rect">
            <a:avLst/>
          </a:prstGeom>
          <a:solidFill>
            <a:srgbClr val="DC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058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677F83"/>
                </a:solidFill>
                <a:latin typeface="Aptos"/>
              </a:rPr>
              <a:t>Calibration direction: Census 2011 · NFHS-5 · PMAY-U · SBM-U · MoHUA · SRA norms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006  /  AI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Small, explainable models that run on a laptop.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383280" cy="160020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26463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10512"/>
            <a:ext cx="3054096" cy="960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R² 0.981 · MAE 1.72
0–100 score + 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160020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160020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26463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054096" cy="960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Macro-F1 0.760
top 2 options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64008" cy="160020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59" y="1280160"/>
            <a:ext cx="3383280" cy="160020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1" y="1426463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Service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1" y="1810512"/>
            <a:ext cx="3054096" cy="960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F1 0.890 · AUC 0.954
90-day failure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1280160"/>
            <a:ext cx="64008" cy="1600200"/>
          </a:xfrm>
          <a:prstGeom prst="rect">
            <a:avLst/>
          </a:prstGeom>
          <a:solidFill>
            <a:srgbClr val="DC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3383280" cy="160020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39242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Cost / delay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776472"/>
            <a:ext cx="3054096" cy="960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MAE + intervals
P50 → P80 band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64008" cy="1600200"/>
          </a:xfrm>
          <a:prstGeom prst="rect">
            <a:avLst/>
          </a:prstGeom>
          <a:solidFill>
            <a:srgbClr val="698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3246120"/>
            <a:ext cx="3383280" cy="160020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39242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Grievance 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776472"/>
            <a:ext cx="3054096" cy="960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Macro-F1 1.000*
category + urgency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246120"/>
            <a:ext cx="64008" cy="160020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59" y="3246120"/>
            <a:ext cx="3383280" cy="160020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1" y="339242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Optimiser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1" y="3776472"/>
            <a:ext cx="3054096" cy="960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ILP + fallback
budget + fairness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59" y="3246120"/>
            <a:ext cx="64008" cy="160020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40680"/>
            <a:ext cx="7315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* Template-heavy synthetic split; not evidence of real-world multilingual performance.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092A43"/>
                </a:solidFill>
                <a:latin typeface="Aptos"/>
              </a:rPr>
              <a:t>Explainability is a product feature: SHAP-compatible helpers + plain-language reasons.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007  / 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See the decision, then challenge the assumption.</a:t>
            </a:r>
          </a:p>
        </p:txBody>
      </p:sp>
      <p:pic>
        <p:nvPicPr>
          <p:cNvPr id="4" name="Picture 3" descr="product_walkth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406640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325880"/>
            <a:ext cx="2834640" cy="123444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68512" y="1472184"/>
            <a:ext cx="250545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Priority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8512" y="1856231"/>
            <a:ext cx="2505456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Click the red dot.
Ask: why this pocket?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325880"/>
            <a:ext cx="64008" cy="1234440"/>
          </a:xfrm>
          <a:prstGeom prst="rect">
            <a:avLst/>
          </a:prstGeom>
          <a:solidFill>
            <a:srgbClr val="DC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0" y="2743200"/>
            <a:ext cx="2834640" cy="123444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2" y="2889504"/>
            <a:ext cx="250545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Pocket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3273552"/>
            <a:ext cx="2505456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Radar + top-two pathway
+ uncertainty band.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43200"/>
            <a:ext cx="64008" cy="123444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4160520"/>
            <a:ext cx="2834640" cy="123444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4306824"/>
            <a:ext cx="250545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Resident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4690872"/>
            <a:ext cx="2505456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Report in your language.
Track the handoff.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160520"/>
            <a:ext cx="64008" cy="123444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008  /  FINANCIAL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Make cross-subsidy assumptions visible before the DPR.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20116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gross built-up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92A43"/>
                </a:solidFill>
                <a:latin typeface="Aptos"/>
              </a:rPr>
              <a:t>land × FSI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20116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− free rehab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92A43"/>
                </a:solidFill>
                <a:latin typeface="Aptos"/>
              </a:rPr>
              <a:t>eligible homes × entitlement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0116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159D9A"/>
                </a:solidFill>
                <a:latin typeface="Aptos"/>
              </a:rPr>
              <a:t>= saleable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0175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159D9A"/>
                </a:solidFill>
                <a:latin typeface="Aptos"/>
              </a:rPr>
              <a:t>market rate × sales 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17320"/>
            <a:ext cx="3063240" cy="338328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1" y="1563624"/>
            <a:ext cx="273405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1947672"/>
            <a:ext cx="2734056" cy="2743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Viable / Borderline / Not viable
Developer margin
Indicative IRR proxy
Break-even market rate
Sensitivity tornado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64008" cy="338328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063240" cy="338328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563624"/>
            <a:ext cx="273405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Demo moment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947672"/>
            <a:ext cx="2734056" cy="2743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Move FSI from 2.7× to 2.0×.
The verdict changes because the assumptions change — not because the model hides a preference.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64008" cy="338328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092A43"/>
                </a:solidFill>
                <a:latin typeface="Aptos"/>
              </a:rPr>
              <a:t>A screening engine for better conversations; not a replacement for a project finance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009  /  RESIDENT-FIRST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A service promise needs a voice and a reference number.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74720" cy="402336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17904"/>
            <a:ext cx="3145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Simple eligibility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01952"/>
            <a:ext cx="3145536" cy="3383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Large-button wizard
PMAY-U / SRA / rental screening
Documents checklist
Next steps in plain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64008" cy="402336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402336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17904"/>
            <a:ext cx="3145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Multilingual grievance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145536" cy="3383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English · हिन्दी · मराठी
Voice-input button
Auto category + urgency
Expected response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4008" cy="402336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474720" cy="402336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517904"/>
            <a:ext cx="3145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901952"/>
            <a:ext cx="3145536" cy="3383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Complaint status tracker
Officer queue sorted by urgency
SLA breach alerts
Human review at every handoff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64008" cy="4023360"/>
          </a:xfrm>
          <a:prstGeom prst="rect">
            <a:avLst/>
          </a:prstGeom>
          <a:solidFill>
            <a:srgbClr val="DC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91440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159D9A"/>
                </a:solidFill>
                <a:latin typeface="Aptos"/>
              </a:rPr>
              <a:t>AI recommends. Officials decide. Residents participate.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010  / 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A transparent planning scenario, with the assumptions on the slide.</a:t>
            </a:r>
          </a:p>
        </p:txBody>
      </p:sp>
      <p:pic>
        <p:nvPicPr>
          <p:cNvPr id="4" name="Picture 3" descr="impac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583680" cy="2633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325880"/>
            <a:ext cx="3840480" cy="356616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62671" y="1472184"/>
            <a:ext cx="35112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What this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1" y="1856231"/>
            <a:ext cx="3511296" cy="2926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Prioritise 1,500 demo pockets
Flag 547 service gaps against demo thresholds
Compare plans before committing the envelope
Keep a ward-by-ward accountability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25880"/>
            <a:ext cx="64008" cy="356616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0584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00" b="1">
                <a:solidFill>
                  <a:srgbClr val="092A43"/>
                </a:solidFill>
                <a:latin typeface="Aptos"/>
              </a:rPr>
              <a:t>Not a claim of realised savings or people covered. These are synthetic impact counters for product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1">
                <a:solidFill>
                  <a:srgbClr val="159D9A"/>
                </a:solidFill>
                <a:latin typeface="Aptos"/>
              </a:rPr>
              <a:t>SDG 6  clean water &amp; sanitation     ·     SDG 11  sustainable cities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011  /  FEASIBILITY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Start as a shared cockpit. Scale as a trusted municipal capability.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3977639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6362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First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47672"/>
            <a:ext cx="3099816" cy="333755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ULBs · SRA / MHADA teams
Ward prioritisation
DPR pre-screening
Service assurance pilots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3977639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3977639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6362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Funding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47672"/>
            <a:ext cx="3099816" cy="333755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Municipal licence
CSR-backed resident layer
PPP / developer due diligence
Open standards for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3977639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429000" cy="3977639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6362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3099816" cy="333755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Now  demo + data contracts
Next  2 pilot wards + real grievance link
Then  satellite/asset signals + drift audits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64008" cy="3977639"/>
          </a:xfrm>
          <a:prstGeom prst="rect">
            <a:avLst/>
          </a:prstGeom>
          <a:solidFill>
            <a:srgbClr val="DC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092A43"/>
                </a:solidFill>
                <a:latin typeface="Aptos"/>
              </a:rPr>
              <a:t>The defensible asset is the decision trail: data provenance → reason → consultation →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00" b="1">
                <a:solidFill>
                  <a:srgbClr val="159D9A"/>
                </a:solidFill>
                <a:latin typeface="Aptos"/>
              </a:rPr>
              <a:t>012  /  ETHICS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3327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092A43"/>
                </a:solidFill>
                <a:latin typeface="Aptos"/>
              </a:rPr>
              <a:t>Better decisions require stronger guardrails than a better score.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406908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1790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01952"/>
            <a:ext cx="3054096" cy="3429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Minimise data. No direct identifiers in the demo. Use consent, role-based access, retention limits and an approved grievance system in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4069080"/>
          </a:xfrm>
          <a:prstGeom prst="rect">
            <a:avLst/>
          </a:prstGeom>
          <a:solidFill>
            <a:srgbClr val="15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06908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1790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Fairness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54096" cy="3429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Audit outcomes by city, income band, language, gender, disability and tenure. Offer explanations, appeals and resident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4008" cy="4069080"/>
          </a:xfrm>
          <a:prstGeom prst="rect">
            <a:avLst/>
          </a:prstGeom>
          <a:solidFill>
            <a:srgbClr val="E9A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383280" cy="4069080"/>
          </a:xfrm>
          <a:prstGeom prst="roundRect">
            <a:avLst/>
          </a:prstGeom>
          <a:solidFill>
            <a:srgbClr val="F7FAF8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17904"/>
            <a:ext cx="305409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092A43"/>
                </a:solidFill>
                <a:latin typeface="Aptos"/>
              </a:rPr>
              <a:t>No automation of harm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01952"/>
            <a:ext cx="3054096" cy="3429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677F83"/>
                </a:solidFill>
                <a:latin typeface="Aptos"/>
              </a:rPr>
              <a:t>The model must not decide demolition, displacement or eligibility. Officers and residents stay in the loop; hazard and tenure require statutory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64008" cy="4069080"/>
          </a:xfrm>
          <a:prstGeom prst="rect">
            <a:avLst/>
          </a:prstGeom>
          <a:solidFill>
            <a:srgbClr val="DC5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91440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092A43"/>
                </a:solidFill>
                <a:latin typeface="Aptos"/>
              </a:rPr>
              <a:t>Synthetic data is a limitation — and a deliberate safety boundary.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00" b="0">
                <a:solidFill>
                  <a:srgbClr val="677F83"/>
                </a:solidFill>
                <a:latin typeface="Aptos"/>
              </a:rPr>
              <a:t>NagarSeva  ·  Synthetic, calibrated demo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00" b="0">
                <a:solidFill>
                  <a:srgbClr val="677F83"/>
                </a:solidFill>
                <a:latin typeface="Aptos"/>
              </a:rPr>
              <a:t>MMR · Maharashtra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1">
                <a:solidFill>
                  <a:srgbClr val="159D9A"/>
                </a:solidFill>
                <a:latin typeface="Aptos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932688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600" b="1">
                <a:solidFill>
                  <a:srgbClr val="F5FBF8"/>
                </a:solidFill>
                <a:latin typeface="Aptos"/>
              </a:rPr>
              <a:t>Let’s pilot one ward.
Then measure what residents receive.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54680"/>
            <a:ext cx="768096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0">
                <a:solidFill>
                  <a:srgbClr val="B8D1CD"/>
                </a:solidFill>
                <a:latin typeface="Aptos"/>
              </a:rPr>
              <a:t>NagarSeva turns a fragmented housing-and-services problem into a visible, explainable, accountable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94960"/>
            <a:ext cx="64008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000" b="1">
                <a:solidFill>
                  <a:srgbClr val="74D6CA"/>
                </a:solidFill>
                <a:latin typeface="Aptos"/>
              </a:rPr>
              <a:t>Plan safer homes. Prove services arrive.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989320"/>
            <a:ext cx="2743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B8D1CD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989320"/>
            <a:ext cx="4114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1000" b="0">
                <a:solidFill>
                  <a:srgbClr val="97BBB5"/>
                </a:solidFill>
                <a:latin typeface="Aptos"/>
              </a:rPr>
              <a:t>Synthetic, calibrated demo · human-in-the-loop · built for MMR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